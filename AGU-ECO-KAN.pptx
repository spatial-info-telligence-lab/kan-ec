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380" r:id="rId3"/>
    <p:sldId id="382" r:id="rId4"/>
    <p:sldId id="384" r:id="rId5"/>
    <p:sldId id="386" r:id="rId6"/>
    <p:sldId id="387" r:id="rId7"/>
    <p:sldId id="385" r:id="rId8"/>
    <p:sldId id="388" r:id="rId9"/>
    <p:sldId id="37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C30"/>
    <a:srgbClr val="E6F4E2"/>
    <a:srgbClr val="66C2A5"/>
    <a:srgbClr val="9DD6D1"/>
    <a:srgbClr val="B8BDD0"/>
    <a:srgbClr val="8A46CC"/>
    <a:srgbClr val="83054C"/>
    <a:srgbClr val="00461C"/>
    <a:srgbClr val="F1EEF5"/>
    <a:srgbClr val="DBDB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76"/>
    <p:restoredTop sz="84433"/>
  </p:normalViewPr>
  <p:slideViewPr>
    <p:cSldViewPr snapToGrid="0" snapToObjects="1">
      <p:cViewPr>
        <p:scale>
          <a:sx n="120" d="100"/>
          <a:sy n="120" d="100"/>
        </p:scale>
        <p:origin x="288" y="488"/>
      </p:cViewPr>
      <p:guideLst/>
    </p:cSldViewPr>
  </p:slideViewPr>
  <p:outlineViewPr>
    <p:cViewPr>
      <p:scale>
        <a:sx n="33" d="100"/>
        <a:sy n="33" d="100"/>
      </p:scale>
      <p:origin x="0" y="-1856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03" d="100"/>
          <a:sy n="103" d="100"/>
        </p:scale>
        <p:origin x="3832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A6EA1C-A79E-3C48-AF28-2BD73F1E4F65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16BF73-B614-8A46-AC98-1BCEF04B5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458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am excited to talk about our work on incorporating CO2 fertilization effects in the global upscaling of eddy covariance photosynthesis measurements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6BF73-B614-8A46-AC98-1BCEF04B53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147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CD398-4A58-0EDD-559E-8DEC93D73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DF372C-8824-CBF5-BC32-AF04A39B5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00FB5F-9F8E-15DA-847E-369920129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3CB87-FAF9-02CA-B0DD-85609F87C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6BF73-B614-8A46-AC98-1BCEF04B53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181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28731-E94B-6662-30FD-C56E3A4B8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0F70C7-73B9-6F34-71A5-7FF43DE9C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DA0678-5C1D-1FAD-DF2D-953B77600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1DCDE-C291-7E56-486D-C2F3D63ED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6BF73-B614-8A46-AC98-1BCEF04B53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233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08FC3-707B-A03E-394C-5C66AB075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837BBA-5EAE-960D-9247-6311B944F1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6487D8-3BCE-C48E-999C-B456496C2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96222-59BE-0520-E596-65EF8AACD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6BF73-B614-8A46-AC98-1BCEF04B53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1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F46B1-D13F-9200-DACA-2F9434EA8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33B880-6167-DA91-557D-C00C87E11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FD9263-8BBC-87C6-7E3C-EC36F9108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EF7F5-3E42-3952-907B-20E82467B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6BF73-B614-8A46-AC98-1BCEF04B53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50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34740-1DF2-C0FB-B89D-8D21548DC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70168-1A09-247E-AF4D-877E87C4E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07C6B2-FACD-C045-7C60-F6A45990B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30F23-2C21-397D-3015-73928AEB5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6BF73-B614-8A46-AC98-1BCEF04B53F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800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6378-0335-D747-BC40-CE62D8524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0AC05C-E309-F848-9BAB-2DAA29DE55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133EE-621C-5048-86D5-19EEBDCC1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FB4B-EED2-CD4B-9AB0-9DB25B714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918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3E1A-B846-E24B-AC3E-AB9674195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3BA52-0095-C14A-A5B3-E4E3C9A63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3E0DB-760E-F045-B3E5-5E08AC5B0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1960" y="6356350"/>
            <a:ext cx="78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AGU2021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FCC76-F09E-954E-99F7-0AA6F5051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FB4B-EED2-CD4B-9AB0-9DB25B714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638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51B4A-C322-1B43-B6CC-D5E703748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CFF93-CD12-2D49-B7EA-F9E43D1A3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75E6D-CB7B-1049-BBAF-D78796B40A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CD15E-DC0D-7943-A000-340FE2651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1960" y="6356350"/>
            <a:ext cx="78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AGU2021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8C79A-750A-E545-B7A8-F130ED72D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FB4B-EED2-CD4B-9AB0-9DB25B714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EF2F2-2D50-3A4F-9843-D0005C986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3DEC6-14D8-4448-9200-C63659E74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378C1-40FB-304B-A90F-EF0242A63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00ABA-6AA7-714D-BCEA-5908FB87D5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436E0D-BE6E-F64B-B38F-16BE2CE33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1960" y="6356350"/>
            <a:ext cx="78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AGU2021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0E180-37E6-2942-92A3-463972C43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FB4B-EED2-CD4B-9AB0-9DB25B714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654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CE217-F305-5948-A112-5B204AB79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7A80B-F4CB-A04C-B953-114BFB2D0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DB871C-2D20-C84F-AF42-E07A2681D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F92DAF-BD5F-CE43-AEE7-7604A16887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472CF7-3FE5-0641-8D9E-9DD10EA373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5A2B39-50A1-CE4A-8351-B3B7D13F1F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D149E3-BCC9-504F-B774-BC33CBC7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1960" y="6356350"/>
            <a:ext cx="78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AGU2021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C0F2B7-82BF-1848-87EA-6E4949372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FB4B-EED2-CD4B-9AB0-9DB25B714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235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C2680-F56E-4C4A-B3F9-6EAA0FCA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813E5B-A285-8C41-ABC9-9F65F9E185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7C3E6A-046F-6C41-8FF3-8EA230122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1960" y="6356350"/>
            <a:ext cx="78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AGU2021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0BB309-EE3E-664F-9AF5-55C34FD87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FB4B-EED2-CD4B-9AB0-9DB25B714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64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2F5C28-D3F3-8D4E-ABA7-4FC40A5528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6606CA-ED46-CB46-BBEE-B2B03B08E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1960" y="6356350"/>
            <a:ext cx="78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AGU2021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24CB5-4430-3E4C-835B-E629D9BA0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FB4B-EED2-CD4B-9AB0-9DB25B714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458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6D5FB-084D-DC48-9A20-B7D5A7ADF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C2377-27FF-4849-ABE2-11778148C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C19F9-2446-F849-83D6-3725BADDB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F4482-B191-C747-9692-661EA40269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08679-0049-E94C-9173-39F1ABDBD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1960" y="6356350"/>
            <a:ext cx="78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AGU2021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6167AE-F63E-3E45-B121-2D38200FE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FB4B-EED2-CD4B-9AB0-9DB25B714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256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DA29E-5B84-6D4A-AA9A-00721558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D63214-B20F-A345-BCC6-51E041233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323B9A-3E8A-F24A-BA69-944CF6999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A3F230-332B-9A4A-BB2C-767E90E6CC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B18D85-60F4-FE4B-93C0-E2BA2EE89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1960" y="6356350"/>
            <a:ext cx="78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AGU2021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16489-89DA-7743-8FC4-D33EFAE91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FB4B-EED2-CD4B-9AB0-9DB25B714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509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1D539-DA6C-CC43-9AE3-E1571C230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6EE1C4-268D-3B40-A7B5-2ACD1E45C9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7A640-FBCE-EC4C-9E7E-06F559C451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5ACAE-6C9C-704E-A1DB-3017C1B21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1960" y="6356350"/>
            <a:ext cx="78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AGU2021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EC6A4-1C41-D244-B81F-E40D30F18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FB4B-EED2-CD4B-9AB0-9DB25B714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977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695461-3260-A341-A686-23FE5B1A78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2E06D8-DA97-1148-9E30-3842617FD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A9E4A-68F7-C641-83A4-6B934EB9E3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4B31D-6357-8347-BF47-809973A6D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1960" y="6356350"/>
            <a:ext cx="78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AGU2021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EB631-690B-0D4E-9D40-BA0E89AD3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FB4B-EED2-CD4B-9AB0-9DB25B714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804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54B030-218A-FC48-996E-135C61305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79C38-5B68-2443-9C14-5C80C993F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838DA-4498-EE4E-8471-53D59AF97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2640" y="6356349"/>
            <a:ext cx="78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AFB4B-EED2-CD4B-9AB0-9DB25B71461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4F4495-3746-4F41-9209-69766663DF73}"/>
              </a:ext>
            </a:extLst>
          </p:cNvPr>
          <p:cNvSpPr/>
          <p:nvPr userDrawn="1"/>
        </p:nvSpPr>
        <p:spPr>
          <a:xfrm>
            <a:off x="0" y="6477000"/>
            <a:ext cx="345440" cy="132080"/>
          </a:xfrm>
          <a:prstGeom prst="rect">
            <a:avLst/>
          </a:prstGeom>
          <a:solidFill>
            <a:srgbClr val="00A7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CF4284-18B4-FA4C-9CC9-F3FFAAF662EF}"/>
              </a:ext>
            </a:extLst>
          </p:cNvPr>
          <p:cNvSpPr/>
          <p:nvPr userDrawn="1"/>
        </p:nvSpPr>
        <p:spPr>
          <a:xfrm>
            <a:off x="11846560" y="6477000"/>
            <a:ext cx="345440" cy="132080"/>
          </a:xfrm>
          <a:prstGeom prst="rect">
            <a:avLst/>
          </a:prstGeom>
          <a:solidFill>
            <a:srgbClr val="00A7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7A97F0-91CA-344A-BCF4-D030DC2AC298}"/>
              </a:ext>
            </a:extLst>
          </p:cNvPr>
          <p:cNvSpPr/>
          <p:nvPr userDrawn="1"/>
        </p:nvSpPr>
        <p:spPr>
          <a:xfrm>
            <a:off x="0" y="182880"/>
            <a:ext cx="345440" cy="132080"/>
          </a:xfrm>
          <a:prstGeom prst="rect">
            <a:avLst/>
          </a:prstGeom>
          <a:solidFill>
            <a:srgbClr val="00A7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E1C13-1E6C-D143-97B1-588D458888DC}"/>
              </a:ext>
            </a:extLst>
          </p:cNvPr>
          <p:cNvSpPr/>
          <p:nvPr userDrawn="1"/>
        </p:nvSpPr>
        <p:spPr>
          <a:xfrm>
            <a:off x="11846560" y="182880"/>
            <a:ext cx="345440" cy="132080"/>
          </a:xfrm>
          <a:prstGeom prst="rect">
            <a:avLst/>
          </a:prstGeom>
          <a:solidFill>
            <a:srgbClr val="00A7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8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313EB-2368-1345-AED0-ECEB293A39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582" y="2503437"/>
            <a:ext cx="10590835" cy="1111169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Avenir Next" panose="020B0503020202020204" pitchFamily="34" charset="0"/>
              </a:rPr>
              <a:t>Process-Guided Interpretable Machine Learning for Ecosystem Dynamics: Modeling Bio-geo-chemical Fluxes with Kolmogorov-Arnold Networks </a:t>
            </a:r>
            <a:endParaRPr lang="en-US" sz="4800" dirty="0">
              <a:solidFill>
                <a:schemeClr val="bg2">
                  <a:lumMod val="50000"/>
                </a:schemeClr>
              </a:solidFill>
              <a:latin typeface="Avenir Next Medium" panose="020B0503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309C26-069A-3147-81C9-B47E5DDD9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25578"/>
            <a:ext cx="9144000" cy="1655762"/>
          </a:xfrm>
        </p:spPr>
        <p:txBody>
          <a:bodyPr>
            <a:normAutofit/>
          </a:bodyPr>
          <a:lstStyle/>
          <a:p>
            <a:r>
              <a:rPr lang="en-US" sz="2000" dirty="0"/>
              <a:t>Zhangyu Wang</a:t>
            </a:r>
            <a:r>
              <a:rPr lang="en-US" sz="2000" baseline="30000" dirty="0"/>
              <a:t>1,2</a:t>
            </a:r>
            <a:r>
              <a:rPr lang="en-US" sz="2000" dirty="0"/>
              <a:t>, </a:t>
            </a:r>
            <a:r>
              <a:rPr lang="en-US" sz="2000" dirty="0" err="1"/>
              <a:t>Yanghui</a:t>
            </a:r>
            <a:r>
              <a:rPr lang="en-US" sz="2000" dirty="0"/>
              <a:t> Kang</a:t>
            </a:r>
            <a:r>
              <a:rPr lang="en-US" sz="2000" baseline="30000" dirty="0"/>
              <a:t>3</a:t>
            </a:r>
            <a:endParaRPr lang="en-US" sz="2000" dirty="0"/>
          </a:p>
          <a:p>
            <a:pPr>
              <a:spcBef>
                <a:spcPts val="600"/>
              </a:spcBef>
            </a:pPr>
            <a:r>
              <a:rPr lang="en-US" sz="1600" baseline="30000" dirty="0"/>
              <a:t>1 </a:t>
            </a:r>
            <a:r>
              <a:rPr lang="en-US" sz="1600" dirty="0"/>
              <a:t>School of Computing and Information Science, University of Maine, Orono, ME, United States</a:t>
            </a:r>
          </a:p>
          <a:p>
            <a:pPr>
              <a:spcBef>
                <a:spcPts val="600"/>
              </a:spcBef>
            </a:pPr>
            <a:r>
              <a:rPr lang="en-US" sz="1600" baseline="30000" dirty="0"/>
              <a:t>2 </a:t>
            </a:r>
            <a:r>
              <a:rPr lang="en-US" sz="1600" dirty="0"/>
              <a:t>Center for Research on Sustainable Forests, University of Maine, Orono, ME, United States.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 </a:t>
            </a:r>
            <a:r>
              <a:rPr lang="en-US" sz="1600" baseline="30000" dirty="0"/>
              <a:t>3 </a:t>
            </a:r>
            <a:r>
              <a:rPr lang="en-US" sz="1600" dirty="0"/>
              <a:t>Department of Biological Systems Engineering, Virginia Tech, Blacksburg, VA, United States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6A76FB-4998-534F-B75D-AFC3AD6825A6}"/>
              </a:ext>
            </a:extLst>
          </p:cNvPr>
          <p:cNvSpPr/>
          <p:nvPr/>
        </p:nvSpPr>
        <p:spPr>
          <a:xfrm>
            <a:off x="0" y="6477000"/>
            <a:ext cx="345440" cy="1320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CF0DB4-DE56-6F4D-9067-336B07207A8C}"/>
              </a:ext>
            </a:extLst>
          </p:cNvPr>
          <p:cNvSpPr/>
          <p:nvPr/>
        </p:nvSpPr>
        <p:spPr>
          <a:xfrm>
            <a:off x="11846560" y="6477000"/>
            <a:ext cx="345440" cy="1320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964F85-C4B8-684B-9F11-A213BDFAD12D}"/>
              </a:ext>
            </a:extLst>
          </p:cNvPr>
          <p:cNvSpPr/>
          <p:nvPr/>
        </p:nvSpPr>
        <p:spPr>
          <a:xfrm>
            <a:off x="0" y="182880"/>
            <a:ext cx="345440" cy="1320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EF2C7C-E54D-8B4F-A8B7-7A8448C98046}"/>
              </a:ext>
            </a:extLst>
          </p:cNvPr>
          <p:cNvSpPr/>
          <p:nvPr/>
        </p:nvSpPr>
        <p:spPr>
          <a:xfrm>
            <a:off x="11846560" y="182880"/>
            <a:ext cx="345440" cy="1320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56508B1-AEB9-CA47-BB4F-D24C08BE3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6840" y="6360477"/>
            <a:ext cx="2743200" cy="365125"/>
          </a:xfrm>
        </p:spPr>
        <p:txBody>
          <a:bodyPr/>
          <a:lstStyle/>
          <a:p>
            <a:fld id="{F02AFB4B-EED2-CD4B-9AB0-9DB25B714611}" type="slidenum">
              <a:rPr lang="en-US" smtClean="0"/>
              <a:t>1</a:t>
            </a:fld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F546D039-977E-A2D9-87EA-122E39CB3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4387" y="204031"/>
            <a:ext cx="2375867" cy="859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Virginia Tech | Blacksburg, VA 24061">
            <a:extLst>
              <a:ext uri="{FF2B5EF4-FFF2-40B4-BE49-F238E27FC236}">
                <a16:creationId xmlns:a16="http://schemas.microsoft.com/office/drawing/2014/main" id="{0352ED5A-579D-D100-73B5-DA3A84C2E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084" y="234077"/>
            <a:ext cx="1317916" cy="55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Maine - Intentional Endowments Network">
            <a:extLst>
              <a:ext uri="{FF2B5EF4-FFF2-40B4-BE49-F238E27FC236}">
                <a16:creationId xmlns:a16="http://schemas.microsoft.com/office/drawing/2014/main" id="{5DD18D6F-7849-BC02-A329-2B138D749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100" y="182880"/>
            <a:ext cx="2499678" cy="78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logo">
            <a:extLst>
              <a:ext uri="{FF2B5EF4-FFF2-40B4-BE49-F238E27FC236}">
                <a16:creationId xmlns:a16="http://schemas.microsoft.com/office/drawing/2014/main" id="{019869A0-AB46-17A9-8611-7A6743997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46" y="182880"/>
            <a:ext cx="1374048" cy="1461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3498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503"/>
    </mc:Choice>
    <mc:Fallback xmlns="">
      <p:transition spd="slow" advTm="225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A0725-9C5C-49E9-2F8A-19E1C0E14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</a:t>
            </a:r>
            <a:r>
              <a:rPr lang="en-US" altLang="zh-CN" dirty="0"/>
              <a:t>E</a:t>
            </a:r>
            <a:r>
              <a:rPr lang="en-US" dirty="0"/>
              <a:t>cosystem Respiration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DCF6C-866B-13DD-BC35-02A4D3F98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66861" cy="4351338"/>
          </a:xfrm>
        </p:spPr>
        <p:txBody>
          <a:bodyPr/>
          <a:lstStyle/>
          <a:p>
            <a:r>
              <a:rPr lang="en-US" b="1" dirty="0"/>
              <a:t>Ecosystem Respiration (RECO) </a:t>
            </a:r>
            <a:r>
              <a:rPr lang="en-US" dirty="0"/>
              <a:t>is the total release of CO₂ from an ecosystem, combining autotrophic respiration (plants) and heterotrophic respiration (microbes decomposing organic matter).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2FAC3-4C1C-6836-507E-7877CFC0A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FB4B-EED2-CD4B-9AB0-9DB25B714611}" type="slidenum">
              <a:rPr lang="en-US" smtClean="0"/>
              <a:t>2</a:t>
            </a:fld>
            <a:endParaRPr lang="en-US"/>
          </a:p>
        </p:txBody>
      </p:sp>
      <p:pic>
        <p:nvPicPr>
          <p:cNvPr id="2050" name="Picture 2" descr="A remote sensing model to estimate ecosystem respiration in Northern China  and the Tibetan Plateau - ScienceDirect">
            <a:extLst>
              <a:ext uri="{FF2B5EF4-FFF2-40B4-BE49-F238E27FC236}">
                <a16:creationId xmlns:a16="http://schemas.microsoft.com/office/drawing/2014/main" id="{D8D5F603-A59B-134C-886A-20B9EE945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827" y="1870074"/>
            <a:ext cx="5327056" cy="377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4676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8FD82-26E5-F5F5-0E3C-8E54BF5F6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Model for Ecosystem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E71AD-29EF-97C5-43B8-EA553445A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2677" y="1825625"/>
            <a:ext cx="5101123" cy="435133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b="1" dirty="0"/>
              <a:t>Environmental variables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Temperature (proxied by air temperature T</a:t>
            </a:r>
            <a:r>
              <a:rPr lang="en-US" baseline="-25000" dirty="0"/>
              <a:t>A</a:t>
            </a:r>
            <a:r>
              <a:rPr lang="en-US" dirty="0"/>
              <a:t>)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Soil water availability (proxied by precipitation P and VPD)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Vegetation and productivity (proxied by GPP)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F5DC4-6A66-AC38-9935-60AB9B1B7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FB4B-EED2-CD4B-9AB0-9DB25B714611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9330D5-0DE8-4343-3414-6D82C71958C8}"/>
                  </a:ext>
                </a:extLst>
              </p:cNvPr>
              <p:cNvSpPr txBox="1"/>
              <p:nvPr/>
            </p:nvSpPr>
            <p:spPr>
              <a:xfrm>
                <a:off x="1566696" y="3845980"/>
                <a:ext cx="3628942" cy="3304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ref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SOC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GPP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9330D5-0DE8-4343-3414-6D82C7195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696" y="3845980"/>
                <a:ext cx="3628942" cy="330411"/>
              </a:xfrm>
              <a:prstGeom prst="rect">
                <a:avLst/>
              </a:prstGeom>
              <a:blipFill>
                <a:blip r:embed="rId2"/>
                <a:stretch>
                  <a:fillRect l="-2448" t="-7407" b="-29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689F51-4DF8-8C26-0D47-FD62BBD60BB4}"/>
                  </a:ext>
                </a:extLst>
              </p:cNvPr>
              <p:cNvSpPr txBox="1"/>
              <p:nvPr/>
            </p:nvSpPr>
            <p:spPr>
              <a:xfrm>
                <a:off x="1566696" y="4583820"/>
                <a:ext cx="4349195" cy="6629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ref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689F51-4DF8-8C26-0D47-FD62BBD60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696" y="4583820"/>
                <a:ext cx="4349195" cy="662938"/>
              </a:xfrm>
              <a:prstGeom prst="rect">
                <a:avLst/>
              </a:prstGeom>
              <a:blipFill>
                <a:blip r:embed="rId3"/>
                <a:stretch>
                  <a:fillRect l="-2624" b="-1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7622FD-70A8-2C8C-D4F1-61CFB7F3A6F2}"/>
                  </a:ext>
                </a:extLst>
              </p:cNvPr>
              <p:cNvSpPr txBox="1"/>
              <p:nvPr/>
            </p:nvSpPr>
            <p:spPr>
              <a:xfrm>
                <a:off x="1566696" y="5462875"/>
                <a:ext cx="2527935" cy="6408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7622FD-70A8-2C8C-D4F1-61CFB7F3A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696" y="5462875"/>
                <a:ext cx="2527935" cy="640816"/>
              </a:xfrm>
              <a:prstGeom prst="rect">
                <a:avLst/>
              </a:prstGeom>
              <a:blipFill>
                <a:blip r:embed="rId4"/>
                <a:stretch>
                  <a:fillRect l="-3500" t="-3922" r="-1500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Brace 7">
            <a:extLst>
              <a:ext uri="{FF2B5EF4-FFF2-40B4-BE49-F238E27FC236}">
                <a16:creationId xmlns:a16="http://schemas.microsoft.com/office/drawing/2014/main" id="{3A9DC3AF-400D-0BBE-9DED-35A3DF52FA61}"/>
              </a:ext>
            </a:extLst>
          </p:cNvPr>
          <p:cNvSpPr/>
          <p:nvPr/>
        </p:nvSpPr>
        <p:spPr>
          <a:xfrm>
            <a:off x="1074462" y="4011185"/>
            <a:ext cx="155448" cy="1909781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43">
            <a:extLst>
              <a:ext uri="{FF2B5EF4-FFF2-40B4-BE49-F238E27FC236}">
                <a16:creationId xmlns:a16="http://schemas.microsoft.com/office/drawing/2014/main" id="{ED7A7F36-BA71-15B7-67DA-B493F95F6B4E}"/>
              </a:ext>
            </a:extLst>
          </p:cNvPr>
          <p:cNvSpPr/>
          <p:nvPr/>
        </p:nvSpPr>
        <p:spPr>
          <a:xfrm>
            <a:off x="3232812" y="3179751"/>
            <a:ext cx="301505" cy="552551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CCD326-C12A-024D-2EC3-5568BC9D8A62}"/>
                  </a:ext>
                </a:extLst>
              </p:cNvPr>
              <p:cNvSpPr txBox="1"/>
              <p:nvPr/>
            </p:nvSpPr>
            <p:spPr>
              <a:xfrm>
                <a:off x="1717449" y="2695680"/>
                <a:ext cx="3315203" cy="3304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ECO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ref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×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CCD326-C12A-024D-2EC3-5568BC9D8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449" y="2695680"/>
                <a:ext cx="3315203" cy="330411"/>
              </a:xfrm>
              <a:prstGeom prst="rect">
                <a:avLst/>
              </a:prstGeom>
              <a:blipFill>
                <a:blip r:embed="rId5"/>
                <a:stretch>
                  <a:fillRect l="-1145" t="-7407" r="-1908" b="-29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B595D82-94F9-AE28-3B85-8F83E0990B5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895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Migliavacca et al, 2011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431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4FA07-5A7A-BE36-9625-18024911E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A8872A4-CD20-2667-AFEE-4042361A316B}"/>
              </a:ext>
            </a:extLst>
          </p:cNvPr>
          <p:cNvSpPr/>
          <p:nvPr/>
        </p:nvSpPr>
        <p:spPr>
          <a:xfrm>
            <a:off x="6714998" y="2328231"/>
            <a:ext cx="4529304" cy="1100769"/>
          </a:xfrm>
          <a:prstGeom prst="roundRect">
            <a:avLst>
              <a:gd name="adj" fmla="val 5500"/>
            </a:avLst>
          </a:prstGeom>
          <a:solidFill>
            <a:schemeClr val="accent1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7507EC2-7C40-72F9-E245-12CC7216CF9D}"/>
              </a:ext>
            </a:extLst>
          </p:cNvPr>
          <p:cNvSpPr/>
          <p:nvPr/>
        </p:nvSpPr>
        <p:spPr>
          <a:xfrm>
            <a:off x="947699" y="2328232"/>
            <a:ext cx="5148301" cy="3968761"/>
          </a:xfrm>
          <a:prstGeom prst="roundRect">
            <a:avLst>
              <a:gd name="adj" fmla="val 5500"/>
            </a:avLst>
          </a:prstGeom>
          <a:solidFill>
            <a:schemeClr val="accent2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A95909-74F7-46B5-BA47-02DDC79C9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Neuro-Symbolic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397FA-E2B9-5EDC-13E1-B3243F667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FB4B-EED2-CD4B-9AB0-9DB25B714611}" type="slidenum">
              <a:rPr lang="en-US" smtClean="0"/>
              <a:t>4</a:t>
            </a:fld>
            <a:endParaRPr lang="en-US"/>
          </a:p>
        </p:txBody>
      </p:sp>
      <p:sp>
        <p:nvSpPr>
          <p:cNvPr id="10" name="Arrow: Down 43">
            <a:extLst>
              <a:ext uri="{FF2B5EF4-FFF2-40B4-BE49-F238E27FC236}">
                <a16:creationId xmlns:a16="http://schemas.microsoft.com/office/drawing/2014/main" id="{2428C8D8-B9EB-CEF3-DDFB-B73BCF58F17C}"/>
              </a:ext>
            </a:extLst>
          </p:cNvPr>
          <p:cNvSpPr/>
          <p:nvPr/>
        </p:nvSpPr>
        <p:spPr>
          <a:xfrm>
            <a:off x="3232812" y="3179751"/>
            <a:ext cx="301505" cy="552551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FEB5D61-4FBE-0100-FBE7-B9FCEAD5C052}"/>
              </a:ext>
            </a:extLst>
          </p:cNvPr>
          <p:cNvSpPr/>
          <p:nvPr/>
        </p:nvSpPr>
        <p:spPr>
          <a:xfrm>
            <a:off x="1410397" y="5379522"/>
            <a:ext cx="2864721" cy="807522"/>
          </a:xfrm>
          <a:prstGeom prst="roundRect">
            <a:avLst>
              <a:gd name="adj" fmla="val 5500"/>
            </a:avLst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3A76698-6CAA-94FC-CF43-D149C4AB986D}"/>
                  </a:ext>
                </a:extLst>
              </p:cNvPr>
              <p:cNvSpPr txBox="1"/>
              <p:nvPr/>
            </p:nvSpPr>
            <p:spPr>
              <a:xfrm>
                <a:off x="1515659" y="2695680"/>
                <a:ext cx="4012380" cy="3304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ECO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ref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𝐺𝑃𝑃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 ×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×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3A76698-6CAA-94FC-CF43-D149C4AB9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5659" y="2695680"/>
                <a:ext cx="4012380" cy="330411"/>
              </a:xfrm>
              <a:prstGeom prst="rect">
                <a:avLst/>
              </a:prstGeom>
              <a:blipFill>
                <a:blip r:embed="rId3"/>
                <a:stretch>
                  <a:fillRect l="-946" t="-7407" r="-1577" b="-29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7F4D60-F59A-EEA7-7369-7F5C34CFCC8A}"/>
                  </a:ext>
                </a:extLst>
              </p:cNvPr>
              <p:cNvSpPr txBox="1"/>
              <p:nvPr/>
            </p:nvSpPr>
            <p:spPr>
              <a:xfrm>
                <a:off x="1566696" y="3845980"/>
                <a:ext cx="4326121" cy="3304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ref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𝐺𝑃𝑃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SOC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GPP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7F4D60-F59A-EEA7-7369-7F5C34CFC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696" y="3845980"/>
                <a:ext cx="4326121" cy="330411"/>
              </a:xfrm>
              <a:prstGeom prst="rect">
                <a:avLst/>
              </a:prstGeom>
              <a:blipFill>
                <a:blip r:embed="rId4"/>
                <a:stretch>
                  <a:fillRect l="-2047" t="-7407" b="-29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D19CAEB-6453-BBBD-5CC5-AAB7BBE15711}"/>
                  </a:ext>
                </a:extLst>
              </p:cNvPr>
              <p:cNvSpPr txBox="1"/>
              <p:nvPr/>
            </p:nvSpPr>
            <p:spPr>
              <a:xfrm>
                <a:off x="1566696" y="4583820"/>
                <a:ext cx="4349195" cy="6629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ref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D19CAEB-6453-BBBD-5CC5-AAB7BBE15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696" y="4583820"/>
                <a:ext cx="4349195" cy="662938"/>
              </a:xfrm>
              <a:prstGeom prst="rect">
                <a:avLst/>
              </a:prstGeom>
              <a:blipFill>
                <a:blip r:embed="rId5"/>
                <a:stretch>
                  <a:fillRect l="-2624" b="-1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7D8511C-40B8-307C-BA95-37A609A36455}"/>
                  </a:ext>
                </a:extLst>
              </p:cNvPr>
              <p:cNvSpPr txBox="1"/>
              <p:nvPr/>
            </p:nvSpPr>
            <p:spPr>
              <a:xfrm>
                <a:off x="1566696" y="5462875"/>
                <a:ext cx="2527935" cy="6408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7D8511C-40B8-307C-BA95-37A609A36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696" y="5462875"/>
                <a:ext cx="2527935" cy="640816"/>
              </a:xfrm>
              <a:prstGeom prst="rect">
                <a:avLst/>
              </a:prstGeom>
              <a:blipFill>
                <a:blip r:embed="rId6"/>
                <a:stretch>
                  <a:fillRect l="-3500" t="-3922" r="-1500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Left Brace 17">
            <a:extLst>
              <a:ext uri="{FF2B5EF4-FFF2-40B4-BE49-F238E27FC236}">
                <a16:creationId xmlns:a16="http://schemas.microsoft.com/office/drawing/2014/main" id="{0916D6EF-F2F7-BD82-71A1-17EDD9247953}"/>
              </a:ext>
            </a:extLst>
          </p:cNvPr>
          <p:cNvSpPr/>
          <p:nvPr/>
        </p:nvSpPr>
        <p:spPr>
          <a:xfrm>
            <a:off x="1074462" y="4011185"/>
            <a:ext cx="155448" cy="1909781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1C0A26A-86CD-17D3-0342-DA97A066A48D}"/>
                  </a:ext>
                </a:extLst>
              </p:cNvPr>
              <p:cNvSpPr txBox="1"/>
              <p:nvPr/>
            </p:nvSpPr>
            <p:spPr>
              <a:xfrm>
                <a:off x="7011989" y="2698337"/>
                <a:ext cx="4232312" cy="3304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ECO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ref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𝐺𝑃𝑃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 ×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×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𝑁𝑁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1C0A26A-86CD-17D3-0342-DA97A066A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1989" y="2698337"/>
                <a:ext cx="4232312" cy="330411"/>
              </a:xfrm>
              <a:prstGeom prst="rect">
                <a:avLst/>
              </a:prstGeom>
              <a:blipFill>
                <a:blip r:embed="rId7"/>
                <a:stretch>
                  <a:fillRect l="-898" t="-7407" r="-1497" b="-29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0" name="Picture 6" descr="Neural Networks From Scratch - victorzhou.com">
            <a:extLst>
              <a:ext uri="{FF2B5EF4-FFF2-40B4-BE49-F238E27FC236}">
                <a16:creationId xmlns:a16="http://schemas.microsoft.com/office/drawing/2014/main" id="{79DC0803-4B64-903F-B649-D39D79DEC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3682" y="4176391"/>
            <a:ext cx="3315203" cy="1657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F6E4937-2C27-964C-510E-B2F43DDDCEB5}"/>
              </a:ext>
            </a:extLst>
          </p:cNvPr>
          <p:cNvSpPr txBox="1"/>
          <p:nvPr/>
        </p:nvSpPr>
        <p:spPr>
          <a:xfrm>
            <a:off x="2804445" y="1823232"/>
            <a:ext cx="11412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Symbolic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FB3962-53AF-C56D-3895-11ADCD11BA7F}"/>
              </a:ext>
            </a:extLst>
          </p:cNvPr>
          <p:cNvSpPr txBox="1"/>
          <p:nvPr/>
        </p:nvSpPr>
        <p:spPr>
          <a:xfrm>
            <a:off x="8101698" y="5896883"/>
            <a:ext cx="18791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Neural Network</a:t>
            </a: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B281446D-19DA-29DD-1451-DF6116E24B5E}"/>
              </a:ext>
            </a:extLst>
          </p:cNvPr>
          <p:cNvCxnSpPr>
            <a:stCxn id="12" idx="3"/>
            <a:endCxn id="1030" idx="1"/>
          </p:cNvCxnSpPr>
          <p:nvPr/>
        </p:nvCxnSpPr>
        <p:spPr>
          <a:xfrm flipV="1">
            <a:off x="4275118" y="5005192"/>
            <a:ext cx="3108564" cy="778091"/>
          </a:xfrm>
          <a:prstGeom prst="curvedConnector3">
            <a:avLst>
              <a:gd name="adj1" fmla="val 50000"/>
            </a:avLst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CFA629A-DDC7-333D-A1E3-D3AD6610BE6E}"/>
              </a:ext>
            </a:extLst>
          </p:cNvPr>
          <p:cNvSpPr/>
          <p:nvPr/>
        </p:nvSpPr>
        <p:spPr>
          <a:xfrm>
            <a:off x="10383429" y="2528412"/>
            <a:ext cx="827982" cy="664946"/>
          </a:xfrm>
          <a:prstGeom prst="roundRect">
            <a:avLst>
              <a:gd name="adj" fmla="val 5500"/>
            </a:avLst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48E720-4FF6-0F71-B234-917E6636B0C3}"/>
              </a:ext>
            </a:extLst>
          </p:cNvPr>
          <p:cNvSpPr txBox="1"/>
          <p:nvPr/>
        </p:nvSpPr>
        <p:spPr>
          <a:xfrm>
            <a:off x="8100351" y="1821533"/>
            <a:ext cx="18818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Neuro-Symbolic</a:t>
            </a:r>
          </a:p>
        </p:txBody>
      </p: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B43C2E22-1357-7B97-6814-F1CCBCBE5320}"/>
              </a:ext>
            </a:extLst>
          </p:cNvPr>
          <p:cNvCxnSpPr>
            <a:cxnSpLocks/>
            <a:stCxn id="1030" idx="0"/>
            <a:endCxn id="28" idx="2"/>
          </p:cNvCxnSpPr>
          <p:nvPr/>
        </p:nvCxnSpPr>
        <p:spPr>
          <a:xfrm rot="5400000" flipH="1" flipV="1">
            <a:off x="9427836" y="2806807"/>
            <a:ext cx="983033" cy="1756136"/>
          </a:xfrm>
          <a:prstGeom prst="curvedConnector3">
            <a:avLst>
              <a:gd name="adj1" fmla="val 50000"/>
            </a:avLst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507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F2B2E-A1C8-6AB0-8570-1124B738F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DE01B-D711-A4BD-888E-50597B8DD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Tale of Two Network Architectures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BB0F6-B2C4-A424-E8ED-5439AD27C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FB4B-EED2-CD4B-9AB0-9DB25B714611}" type="slidenum">
              <a:rPr lang="en-US" smtClean="0"/>
              <a:t>5</a:t>
            </a:fld>
            <a:endParaRPr lang="en-US"/>
          </a:p>
        </p:txBody>
      </p:sp>
      <p:pic>
        <p:nvPicPr>
          <p:cNvPr id="4098" name="Picture 2" descr="Kolmogorov-Arnold Networks: the latest advance in Neural Networks, simply  explained | Towards Data Science">
            <a:extLst>
              <a:ext uri="{FF2B5EF4-FFF2-40B4-BE49-F238E27FC236}">
                <a16:creationId xmlns:a16="http://schemas.microsoft.com/office/drawing/2014/main" id="{19C88410-793F-E647-5E2A-D094B7248A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201"/>
          <a:stretch/>
        </p:blipFill>
        <p:spPr bwMode="auto">
          <a:xfrm>
            <a:off x="620712" y="1903228"/>
            <a:ext cx="10950575" cy="3689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5271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7F562-ADCB-1DB0-808E-880B00FD1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684D6-F455-7A21-17C7-CF6B3422D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Kolmogorov-Arnold Network (KAN)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E2B43-95E0-E56F-4612-0088345AE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FB4B-EED2-CD4B-9AB0-9DB25B714611}" type="slidenum">
              <a:rPr lang="en-US" smtClean="0"/>
              <a:t>6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8CA8A96-68F3-9CE7-040C-DA3BAF261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37960" cy="435133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b="1" dirty="0"/>
              <a:t>Multi-Layer Perceptron (MLP) 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Dense variable interactions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Hard to analyze variable activations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Non-interpretable weights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b="1" dirty="0"/>
              <a:t>Kolmogorov-Arnold Network (KAN)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Sparse variable interactions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Easy to visualize variable activations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FF0000"/>
                </a:solidFill>
              </a:rPr>
              <a:t>Interpretable formulae (network topologies correspond to symbols)</a:t>
            </a:r>
          </a:p>
        </p:txBody>
      </p:sp>
      <p:pic>
        <p:nvPicPr>
          <p:cNvPr id="3074" name="Picture 2" descr="Understanding Kolmogorov Arnold Networks (KAN) | TDS Archive">
            <a:extLst>
              <a:ext uri="{FF2B5EF4-FFF2-40B4-BE49-F238E27FC236}">
                <a16:creationId xmlns:a16="http://schemas.microsoft.com/office/drawing/2014/main" id="{C22495BA-8688-42C5-A2FD-6E481C64A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1745959"/>
            <a:ext cx="3581400" cy="4792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82EABF9-473A-5FC9-9B3B-0A2E0B5B2358}"/>
              </a:ext>
            </a:extLst>
          </p:cNvPr>
          <p:cNvSpPr/>
          <p:nvPr/>
        </p:nvSpPr>
        <p:spPr>
          <a:xfrm>
            <a:off x="7687340" y="1690687"/>
            <a:ext cx="3742660" cy="999349"/>
          </a:xfrm>
          <a:prstGeom prst="roundRect">
            <a:avLst>
              <a:gd name="adj" fmla="val 5500"/>
            </a:avLst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0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C69B9-0BFA-38E0-684E-3702E60A1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B40F6-0652-579D-94C4-1AD9FB82A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7132E-2763-85E8-07DF-0729EC5E3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FB4B-EED2-CD4B-9AB0-9DB25B714611}" type="slidenum">
              <a:rPr lang="en-US" smtClean="0"/>
              <a:t>7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DA17C0-20EF-7AB6-3977-FB90D1B11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59830" cy="4351338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b="1" dirty="0"/>
              <a:t>Dataset - 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Harvard Forest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D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eciduous 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boradleaf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 forest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AmeriFlux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 code: US-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xHA</a:t>
            </a:r>
            <a:endParaRPr lang="en-US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1F2328"/>
                </a:solidFill>
                <a:latin typeface="-apple-system"/>
              </a:rPr>
              <a:t>Variables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TA: half-hourly air temperature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VPD: vapor pressure deficit 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P: half-hourly precipitation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GPP: Gross Primary Productivity</a:t>
            </a:r>
            <a:endParaRPr lang="en-US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1F2328"/>
                </a:solidFill>
                <a:latin typeface="-apple-system"/>
              </a:rPr>
              <a:t>Response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RECO: Ecosystem Respiration</a:t>
            </a:r>
            <a:endParaRPr lang="en-US" dirty="0"/>
          </a:p>
        </p:txBody>
      </p:sp>
      <p:pic>
        <p:nvPicPr>
          <p:cNvPr id="7" name="Picture 6" descr="A diagram of a structure&#10;&#10;Description automatically generated">
            <a:extLst>
              <a:ext uri="{FF2B5EF4-FFF2-40B4-BE49-F238E27FC236}">
                <a16:creationId xmlns:a16="http://schemas.microsoft.com/office/drawing/2014/main" id="{0E81B973-86C3-A61F-C00E-0D3A7B179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00" y="1575430"/>
            <a:ext cx="4511040" cy="37981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801FA9-EA64-EEDC-47F3-82A5E7994611}"/>
              </a:ext>
            </a:extLst>
          </p:cNvPr>
          <p:cNvSpPr txBox="1"/>
          <p:nvPr/>
        </p:nvSpPr>
        <p:spPr>
          <a:xfrm>
            <a:off x="7030027" y="5326977"/>
            <a:ext cx="446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9736BB-7396-CB47-4D34-4FB2271FEE2E}"/>
              </a:ext>
            </a:extLst>
          </p:cNvPr>
          <p:cNvSpPr txBox="1"/>
          <p:nvPr/>
        </p:nvSpPr>
        <p:spPr>
          <a:xfrm>
            <a:off x="8035572" y="5332064"/>
            <a:ext cx="6351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VPD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64282B-C030-59F7-DA93-1443BFD58C36}"/>
              </a:ext>
            </a:extLst>
          </p:cNvPr>
          <p:cNvSpPr txBox="1"/>
          <p:nvPr/>
        </p:nvSpPr>
        <p:spPr>
          <a:xfrm>
            <a:off x="9302290" y="5332064"/>
            <a:ext cx="320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C02D7D-D800-ADEB-13BD-7ADFCD6A3D0F}"/>
              </a:ext>
            </a:extLst>
          </p:cNvPr>
          <p:cNvSpPr txBox="1"/>
          <p:nvPr/>
        </p:nvSpPr>
        <p:spPr>
          <a:xfrm>
            <a:off x="10306490" y="5331517"/>
            <a:ext cx="620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GPP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B4B26FD-CA6A-6A76-6CA6-60C2450AEFEB}"/>
                  </a:ext>
                </a:extLst>
              </p:cNvPr>
              <p:cNvSpPr txBox="1"/>
              <p:nvPr/>
            </p:nvSpPr>
            <p:spPr>
              <a:xfrm>
                <a:off x="8193011" y="1178053"/>
                <a:ext cx="14302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RECO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B4B26FD-CA6A-6A76-6CA6-60C2450AE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3011" y="1178053"/>
                <a:ext cx="1430200" cy="400110"/>
              </a:xfrm>
              <a:prstGeom prst="rect">
                <a:avLst/>
              </a:prstGeom>
              <a:blipFill>
                <a:blip r:embed="rId4"/>
                <a:stretch>
                  <a:fillRect l="-1770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EE8448E-76B3-8BAB-5B4B-BCBF630FBDAF}"/>
                  </a:ext>
                </a:extLst>
              </p:cNvPr>
              <p:cNvSpPr txBox="1"/>
              <p:nvPr/>
            </p:nvSpPr>
            <p:spPr>
              <a:xfrm>
                <a:off x="5948856" y="1365003"/>
                <a:ext cx="2028440" cy="721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</a:rPr>
                  <a:t>KAN: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𝟕𝟖</m:t>
                    </m:r>
                  </m:oMath>
                </a14:m>
                <a:r>
                  <a:rPr lang="zh-CN" altLang="en-US" sz="2000" b="1" dirty="0">
                    <a:solidFill>
                      <a:srgbClr val="FF0000"/>
                    </a:solidFill>
                  </a:rPr>
                  <a:t> </a:t>
                </a:r>
                <a:endParaRPr lang="en-US" altLang="zh-CN" sz="20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altLang="zh-CN" sz="2000" b="1" dirty="0">
                    <a:solidFill>
                      <a:schemeClr val="tx1"/>
                    </a:solidFill>
                  </a:rPr>
                  <a:t>MLP: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𝟕𝟔</m:t>
                    </m:r>
                  </m:oMath>
                </a14:m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EE8448E-76B3-8BAB-5B4B-BCBF630FB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856" y="1365003"/>
                <a:ext cx="2028440" cy="721864"/>
              </a:xfrm>
              <a:prstGeom prst="rect">
                <a:avLst/>
              </a:prstGeom>
              <a:blipFill>
                <a:blip r:embed="rId5"/>
                <a:stretch>
                  <a:fillRect l="-2484" t="-5172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51129FC-8FFE-5ADF-0ACC-0B4B6DAF1444}"/>
              </a:ext>
            </a:extLst>
          </p:cNvPr>
          <p:cNvSpPr/>
          <p:nvPr/>
        </p:nvSpPr>
        <p:spPr>
          <a:xfrm>
            <a:off x="9850488" y="4090573"/>
            <a:ext cx="1228672" cy="1639592"/>
          </a:xfrm>
          <a:prstGeom prst="roundRect">
            <a:avLst>
              <a:gd name="adj" fmla="val 5500"/>
            </a:avLst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FB6E34-82E6-6970-F950-1C44E1096686}"/>
              </a:ext>
            </a:extLst>
          </p:cNvPr>
          <p:cNvSpPr txBox="1"/>
          <p:nvPr/>
        </p:nvSpPr>
        <p:spPr>
          <a:xfrm>
            <a:off x="10306490" y="2475082"/>
            <a:ext cx="13999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Physically valid </a:t>
            </a:r>
          </a:p>
          <a:p>
            <a:pPr algn="ctr"/>
            <a:r>
              <a:rPr lang="en-US" sz="2000" i="1" dirty="0"/>
              <a:t>response of GPP</a:t>
            </a:r>
          </a:p>
        </p:txBody>
      </p: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F1A16DD5-C6A3-2CA5-6ACC-FBBC09F36C8F}"/>
              </a:ext>
            </a:extLst>
          </p:cNvPr>
          <p:cNvCxnSpPr>
            <a:cxnSpLocks/>
            <a:stCxn id="32" idx="2"/>
            <a:endCxn id="27" idx="0"/>
          </p:cNvCxnSpPr>
          <p:nvPr/>
        </p:nvCxnSpPr>
        <p:spPr>
          <a:xfrm rot="5400000">
            <a:off x="10589619" y="3673726"/>
            <a:ext cx="292052" cy="541642"/>
          </a:xfrm>
          <a:prstGeom prst="curvedConnector3">
            <a:avLst>
              <a:gd name="adj1" fmla="val 50000"/>
            </a:avLst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093680A-591C-56EA-354B-0B3B9069CB95}"/>
              </a:ext>
            </a:extLst>
          </p:cNvPr>
          <p:cNvSpPr/>
          <p:nvPr/>
        </p:nvSpPr>
        <p:spPr>
          <a:xfrm>
            <a:off x="9122753" y="4835531"/>
            <a:ext cx="620684" cy="896096"/>
          </a:xfrm>
          <a:prstGeom prst="roundRect">
            <a:avLst>
              <a:gd name="adj" fmla="val 5500"/>
            </a:avLst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D39CC7-4321-C488-7E99-F7685A85D9CA}"/>
              </a:ext>
            </a:extLst>
          </p:cNvPr>
          <p:cNvSpPr txBox="1"/>
          <p:nvPr/>
        </p:nvSpPr>
        <p:spPr>
          <a:xfrm>
            <a:off x="5948856" y="5799496"/>
            <a:ext cx="2244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Automatic variable selection</a:t>
            </a:r>
          </a:p>
        </p:txBody>
      </p: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9E127767-6ED2-6EC2-976D-E91C019D369F}"/>
              </a:ext>
            </a:extLst>
          </p:cNvPr>
          <p:cNvCxnSpPr>
            <a:cxnSpLocks/>
            <a:stCxn id="37" idx="3"/>
            <a:endCxn id="36" idx="2"/>
          </p:cNvCxnSpPr>
          <p:nvPr/>
        </p:nvCxnSpPr>
        <p:spPr>
          <a:xfrm flipV="1">
            <a:off x="8193011" y="5731627"/>
            <a:ext cx="1240084" cy="421812"/>
          </a:xfrm>
          <a:prstGeom prst="curvedConnector2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E1DCA04-7B3E-8A2D-5418-0C56C7330BD4}"/>
              </a:ext>
            </a:extLst>
          </p:cNvPr>
          <p:cNvSpPr txBox="1"/>
          <p:nvPr/>
        </p:nvSpPr>
        <p:spPr>
          <a:xfrm>
            <a:off x="10262664" y="1149519"/>
            <a:ext cx="13999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Domain knowledge assistance</a:t>
            </a:r>
          </a:p>
        </p:txBody>
      </p:sp>
      <p:cxnSp>
        <p:nvCxnSpPr>
          <p:cNvPr id="43" name="Curved Connector 42">
            <a:extLst>
              <a:ext uri="{FF2B5EF4-FFF2-40B4-BE49-F238E27FC236}">
                <a16:creationId xmlns:a16="http://schemas.microsoft.com/office/drawing/2014/main" id="{B42EF000-DFCF-99B9-E76A-E2A6635E12B7}"/>
              </a:ext>
            </a:extLst>
          </p:cNvPr>
          <p:cNvCxnSpPr>
            <a:cxnSpLocks/>
            <a:stCxn id="42" idx="1"/>
            <a:endCxn id="25" idx="3"/>
          </p:cNvCxnSpPr>
          <p:nvPr/>
        </p:nvCxnSpPr>
        <p:spPr>
          <a:xfrm rot="10800000">
            <a:off x="9623212" y="1378109"/>
            <a:ext cx="639453" cy="279243"/>
          </a:xfrm>
          <a:prstGeom prst="curvedConnector3">
            <a:avLst>
              <a:gd name="adj1" fmla="val 50000"/>
            </a:avLst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AA0F7A8-302A-776C-7FEE-F23326C0D177}"/>
              </a:ext>
            </a:extLst>
          </p:cNvPr>
          <p:cNvSpPr/>
          <p:nvPr/>
        </p:nvSpPr>
        <p:spPr>
          <a:xfrm>
            <a:off x="8216180" y="1070975"/>
            <a:ext cx="1255472" cy="583000"/>
          </a:xfrm>
          <a:prstGeom prst="roundRect">
            <a:avLst>
              <a:gd name="adj" fmla="val 5500"/>
            </a:avLst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77279DE9-48B2-3A7A-7109-85EECBCB90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9903" y="431864"/>
            <a:ext cx="4988026" cy="400109"/>
          </a:xfrm>
          <a:prstGeom prst="rect">
            <a:avLst/>
          </a:prstGeom>
        </p:spPr>
      </p:pic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0799E7F-07C6-1143-385E-25CAB714FF3F}"/>
              </a:ext>
            </a:extLst>
          </p:cNvPr>
          <p:cNvCxnSpPr>
            <a:stCxn id="44" idx="0"/>
            <a:endCxn id="59" idx="2"/>
          </p:cNvCxnSpPr>
          <p:nvPr/>
        </p:nvCxnSpPr>
        <p:spPr>
          <a:xfrm flipV="1">
            <a:off x="8843916" y="831973"/>
            <a:ext cx="0" cy="2390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E9086D5E-F6DB-8DDA-0E4B-BD41FDF51427}"/>
              </a:ext>
            </a:extLst>
          </p:cNvPr>
          <p:cNvSpPr/>
          <p:nvPr/>
        </p:nvSpPr>
        <p:spPr>
          <a:xfrm>
            <a:off x="6290302" y="340418"/>
            <a:ext cx="5063497" cy="583000"/>
          </a:xfrm>
          <a:prstGeom prst="roundRect">
            <a:avLst>
              <a:gd name="adj" fmla="val 5500"/>
            </a:avLst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45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24B76-283C-E3D9-B4E6-08F65F896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9246B-8331-CECD-8C74-8567D70BC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Work: ECO-KAN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7E53F-7B0B-FC56-A071-9C7B3ED58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FB4B-EED2-CD4B-9AB0-9DB25B714611}" type="slidenum">
              <a:rPr lang="en-US" smtClean="0"/>
              <a:t>8</a:t>
            </a:fld>
            <a:endParaRPr lang="en-US"/>
          </a:p>
        </p:txBody>
      </p:sp>
      <p:pic>
        <p:nvPicPr>
          <p:cNvPr id="15" name="Picture 14" descr="A diagram of a structure&#10;&#10;Description automatically generated">
            <a:extLst>
              <a:ext uri="{FF2B5EF4-FFF2-40B4-BE49-F238E27FC236}">
                <a16:creationId xmlns:a16="http://schemas.microsoft.com/office/drawing/2014/main" id="{BF7D17D1-845A-C470-6E54-A5D72D833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00" y="1246086"/>
            <a:ext cx="4902200" cy="41275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391553E-1577-D75F-1648-88279875D6BA}"/>
              </a:ext>
            </a:extLst>
          </p:cNvPr>
          <p:cNvSpPr txBox="1"/>
          <p:nvPr/>
        </p:nvSpPr>
        <p:spPr>
          <a:xfrm>
            <a:off x="7030027" y="5326977"/>
            <a:ext cx="446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77427F-7362-CA08-6611-E516D4266242}"/>
              </a:ext>
            </a:extLst>
          </p:cNvPr>
          <p:cNvSpPr txBox="1"/>
          <p:nvPr/>
        </p:nvSpPr>
        <p:spPr>
          <a:xfrm>
            <a:off x="8185123" y="5320819"/>
            <a:ext cx="6351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VPD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2C0E91-63CF-32E3-9075-5C4EA4859A8A}"/>
              </a:ext>
            </a:extLst>
          </p:cNvPr>
          <p:cNvSpPr txBox="1"/>
          <p:nvPr/>
        </p:nvSpPr>
        <p:spPr>
          <a:xfrm>
            <a:off x="9568834" y="5320819"/>
            <a:ext cx="320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BA75B9-326C-4679-39C4-6CFEE2AB464A}"/>
              </a:ext>
            </a:extLst>
          </p:cNvPr>
          <p:cNvSpPr txBox="1"/>
          <p:nvPr/>
        </p:nvSpPr>
        <p:spPr>
          <a:xfrm>
            <a:off x="10638356" y="5320819"/>
            <a:ext cx="620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GPP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F744F72-2B25-97BA-3F6B-763DE77CDA7E}"/>
                  </a:ext>
                </a:extLst>
              </p:cNvPr>
              <p:cNvSpPr txBox="1"/>
              <p:nvPr/>
            </p:nvSpPr>
            <p:spPr>
              <a:xfrm>
                <a:off x="8424952" y="788115"/>
                <a:ext cx="14302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RECO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F744F72-2B25-97BA-3F6B-763DE77CD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4952" y="788115"/>
                <a:ext cx="1430200" cy="400110"/>
              </a:xfrm>
              <a:prstGeom prst="rect">
                <a:avLst/>
              </a:prstGeom>
              <a:blipFill>
                <a:blip r:embed="rId4"/>
                <a:stretch>
                  <a:fillRect l="-1754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34328C5-335E-9543-C5B3-1F0C4AB8D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18640" cy="435133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b="1" dirty="0"/>
              <a:t>Eco-Native KAN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i="0" dirty="0">
                <a:solidFill>
                  <a:srgbClr val="1F2328"/>
                </a:solidFill>
                <a:effectLst/>
                <a:latin typeface="-apple-system"/>
              </a:rPr>
              <a:t>KAN is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originally designed for physics</a:t>
            </a:r>
            <a:endParaRPr lang="en-US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Expert-constructed pool of activation functions --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Not all activation functions are physically valid</a:t>
            </a:r>
            <a:endParaRPr lang="en-US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Expert-constructed pool of network topologies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– Not all variable interactions are physically valid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b="1" i="0" dirty="0">
                <a:solidFill>
                  <a:srgbClr val="1F2328"/>
                </a:solidFill>
                <a:effectLst/>
                <a:latin typeface="-apple-system"/>
              </a:rPr>
              <a:t>ECO-KAN: </a:t>
            </a:r>
            <a:r>
              <a:rPr lang="en-US" i="0" dirty="0">
                <a:solidFill>
                  <a:srgbClr val="1F2328"/>
                </a:solidFill>
                <a:effectLst/>
                <a:latin typeface="-apple-system"/>
              </a:rPr>
              <a:t>KAN for Ecosystem Dynamics Modelling</a:t>
            </a:r>
          </a:p>
        </p:txBody>
      </p:sp>
    </p:spTree>
    <p:extLst>
      <p:ext uri="{BB962C8B-B14F-4D97-AF65-F5344CB8AC3E}">
        <p14:creationId xmlns:p14="http://schemas.microsoft.com/office/powerpoint/2010/main" val="1668522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31815-7CA9-9C7D-7FC4-8A6E9DB3B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FB4B-EED2-CD4B-9AB0-9DB25B714611}" type="slidenum">
              <a:rPr lang="en-US" smtClean="0"/>
              <a:t>9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EBEA98D-F588-92B2-D1C1-D654179ED64F}"/>
              </a:ext>
            </a:extLst>
          </p:cNvPr>
          <p:cNvSpPr txBox="1">
            <a:spLocks/>
          </p:cNvSpPr>
          <p:nvPr/>
        </p:nvSpPr>
        <p:spPr>
          <a:xfrm>
            <a:off x="1141296" y="2388995"/>
            <a:ext cx="40022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Avenir Next Heavy" panose="020B0503020202020204" pitchFamily="34" charset="0"/>
              </a:rPr>
              <a:t>Thank you!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BFDE45-F6F4-CEC6-4605-8D01CFC71178}"/>
              </a:ext>
            </a:extLst>
          </p:cNvPr>
          <p:cNvSpPr txBox="1"/>
          <p:nvPr/>
        </p:nvSpPr>
        <p:spPr>
          <a:xfrm>
            <a:off x="1181192" y="3370253"/>
            <a:ext cx="3329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Avenir Next" panose="020B0503020202020204" pitchFamily="34" charset="0"/>
              </a:rPr>
              <a:t>zhangyu.wang@maine.edu</a:t>
            </a:r>
            <a:endParaRPr lang="en-US" sz="2000" dirty="0">
              <a:latin typeface="Avenir Next" panose="020B0503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F8B9C2C-8527-DB12-43E8-B235674CF938}"/>
              </a:ext>
            </a:extLst>
          </p:cNvPr>
          <p:cNvSpPr txBox="1">
            <a:spLocks/>
          </p:cNvSpPr>
          <p:nvPr/>
        </p:nvSpPr>
        <p:spPr>
          <a:xfrm>
            <a:off x="6408301" y="1559557"/>
            <a:ext cx="40022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venir Next Heavy" panose="020B0503020202020204" pitchFamily="34" charset="0"/>
              </a:rPr>
              <a:t>Acknowledgment</a:t>
            </a:r>
            <a:endParaRPr lang="en-US" sz="2800" b="1" dirty="0">
              <a:latin typeface="Avenir Next Heavy" panose="020B0503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950666D-2F1D-CE9B-758C-110729A50CF0}"/>
              </a:ext>
            </a:extLst>
          </p:cNvPr>
          <p:cNvSpPr txBox="1">
            <a:spLocks/>
          </p:cNvSpPr>
          <p:nvPr/>
        </p:nvSpPr>
        <p:spPr>
          <a:xfrm>
            <a:off x="6408301" y="3957953"/>
            <a:ext cx="45377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000" dirty="0">
                <a:latin typeface="Avenir Next" panose="020B0503020202020204" pitchFamily="34" charset="0"/>
              </a:rPr>
              <a:t>Collaborators: </a:t>
            </a:r>
            <a:r>
              <a:rPr lang="en-US" sz="2000" dirty="0" err="1">
                <a:latin typeface="Avenir Next" panose="020B0503020202020204" pitchFamily="34" charset="0"/>
              </a:rPr>
              <a:t>Yanghui</a:t>
            </a:r>
            <a:r>
              <a:rPr lang="en-US" sz="2000" dirty="0">
                <a:latin typeface="Avenir Next" panose="020B0503020202020204" pitchFamily="34" charset="0"/>
              </a:rPr>
              <a:t> Kang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Avenir Next" panose="020B0503020202020204" pitchFamily="34" charset="0"/>
              </a:rPr>
              <a:t>Special Thanks: Aaron </a:t>
            </a:r>
            <a:r>
              <a:rPr lang="en-US" sz="2000" dirty="0" err="1">
                <a:latin typeface="Avenir Next" panose="020B0503020202020204" pitchFamily="34" charset="0"/>
              </a:rPr>
              <a:t>Weiskittel</a:t>
            </a:r>
            <a:endParaRPr lang="en-US" sz="2800" dirty="0">
              <a:latin typeface="Avenir Next" panose="020B0503020202020204" pitchFamily="34" charset="0"/>
            </a:endParaRPr>
          </a:p>
        </p:txBody>
      </p:sp>
      <p:pic>
        <p:nvPicPr>
          <p:cNvPr id="2" name="Picture 8" descr="logo">
            <a:extLst>
              <a:ext uri="{FF2B5EF4-FFF2-40B4-BE49-F238E27FC236}">
                <a16:creationId xmlns:a16="http://schemas.microsoft.com/office/drawing/2014/main" id="{92937418-F7FD-4C2B-CF90-D523D87C0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763" y="2511127"/>
            <a:ext cx="1374048" cy="1461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National Science Foundation - Wikipedia">
            <a:extLst>
              <a:ext uri="{FF2B5EF4-FFF2-40B4-BE49-F238E27FC236}">
                <a16:creationId xmlns:a16="http://schemas.microsoft.com/office/drawing/2014/main" id="{915E0307-9A42-7FAF-607B-819EBB12E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3273" y="2511128"/>
            <a:ext cx="1457017" cy="1461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Stream NASA | Listen to podcast episodes online for free on SoundCloud">
            <a:extLst>
              <a:ext uri="{FF2B5EF4-FFF2-40B4-BE49-F238E27FC236}">
                <a16:creationId xmlns:a16="http://schemas.microsoft.com/office/drawing/2014/main" id="{46BC9EB1-620D-3C59-26BC-31038F623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9821" y="2511127"/>
            <a:ext cx="1446826" cy="1446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690DA2-4BD7-264D-1B68-3572A079E2F3}"/>
              </a:ext>
            </a:extLst>
          </p:cNvPr>
          <p:cNvSpPr txBox="1"/>
          <p:nvPr/>
        </p:nvSpPr>
        <p:spPr>
          <a:xfrm>
            <a:off x="1181193" y="3770363"/>
            <a:ext cx="3329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accent1"/>
                </a:solidFill>
              </a:rPr>
              <a:t>https://</a:t>
            </a:r>
            <a:r>
              <a:rPr lang="en-US" u="sng" dirty="0" err="1">
                <a:solidFill>
                  <a:schemeClr val="accent1"/>
                </a:solidFill>
              </a:rPr>
              <a:t>github.com</a:t>
            </a:r>
            <a:r>
              <a:rPr lang="en-US" u="sng" dirty="0">
                <a:solidFill>
                  <a:schemeClr val="accent1"/>
                </a:solidFill>
              </a:rPr>
              <a:t>/Spatial-Info-</a:t>
            </a:r>
            <a:r>
              <a:rPr lang="en-US" u="sng" dirty="0" err="1">
                <a:solidFill>
                  <a:schemeClr val="accent1"/>
                </a:solidFill>
              </a:rPr>
              <a:t>Telligence</a:t>
            </a:r>
            <a:r>
              <a:rPr lang="en-US" u="sng" dirty="0">
                <a:solidFill>
                  <a:schemeClr val="accent1"/>
                </a:solidFill>
              </a:rPr>
              <a:t>-Lab/KAN-EC</a:t>
            </a:r>
          </a:p>
        </p:txBody>
      </p:sp>
      <p:pic>
        <p:nvPicPr>
          <p:cNvPr id="10" name="Picture 9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2DA04E70-D2A2-A591-492B-AB32F6713A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3062" y="2557453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214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377"/>
    </mc:Choice>
    <mc:Fallback xmlns="">
      <p:transition spd="slow" advTm="16377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21837</TotalTime>
  <Words>575</Words>
  <Application>Microsoft Macintosh PowerPoint</Application>
  <PresentationFormat>Widescreen</PresentationFormat>
  <Paragraphs>91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-apple-system</vt:lpstr>
      <vt:lpstr>Arial</vt:lpstr>
      <vt:lpstr>Avenir Next</vt:lpstr>
      <vt:lpstr>Avenir Next Heavy</vt:lpstr>
      <vt:lpstr>Avenir Next Medium</vt:lpstr>
      <vt:lpstr>Calibri</vt:lpstr>
      <vt:lpstr>Calibri Light</vt:lpstr>
      <vt:lpstr>Cambria Math</vt:lpstr>
      <vt:lpstr>Office Theme</vt:lpstr>
      <vt:lpstr>Process-Guided Interpretable Machine Learning for Ecosystem Dynamics: Modeling Bio-geo-chemical Fluxes with Kolmogorov-Arnold Networks </vt:lpstr>
      <vt:lpstr>Modeling Ecosystem Respiration</vt:lpstr>
      <vt:lpstr>Process Model for Ecosystem Modelling</vt:lpstr>
      <vt:lpstr>Neuro-Symbolic Approach</vt:lpstr>
      <vt:lpstr>A Tale of Two Network Architectures</vt:lpstr>
      <vt:lpstr>Kolmogorov-Arnold Network (KAN)</vt:lpstr>
      <vt:lpstr>Experimental Results</vt:lpstr>
      <vt:lpstr>Future Work: ECO-KAN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Yanghui Kang</dc:creator>
  <cp:lastModifiedBy>ZHANGYU WANG</cp:lastModifiedBy>
  <cp:revision>126</cp:revision>
  <dcterms:created xsi:type="dcterms:W3CDTF">2021-12-03T22:29:10Z</dcterms:created>
  <dcterms:modified xsi:type="dcterms:W3CDTF">2025-12-16T18:12:24Z</dcterms:modified>
</cp:coreProperties>
</file>